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A08385-B128-47D3-8322-A06A72138C32}" v="62" dt="2025-11-16T11:40:36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794841-7F4C-4369-8A55-3D3AB91F0F7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30F4EE1-138D-474B-97AD-7CEE66299C35}">
      <dgm:prSet/>
      <dgm:spPr/>
      <dgm:t>
        <a:bodyPr/>
        <a:lstStyle/>
        <a:p>
          <a:r>
            <a:rPr lang="en-US"/>
            <a:t>The Random Forest model predicts booking completions with </a:t>
          </a:r>
          <a:r>
            <a:rPr lang="en-US" b="1"/>
            <a:t>85% accuracy</a:t>
          </a:r>
          <a:r>
            <a:rPr lang="en-US"/>
            <a:t> on the test set. This performance is confirmed by a </a:t>
          </a:r>
          <a:r>
            <a:rPr lang="en-US" b="1"/>
            <a:t>stable 85.02% average accuracy</a:t>
          </a:r>
          <a:r>
            <a:rPr lang="en-US"/>
            <a:t> from 5-fold cross-validation, indicating the model is reliable and not overfitted.</a:t>
          </a:r>
        </a:p>
      </dgm:t>
    </dgm:pt>
    <dgm:pt modelId="{25AB221C-126F-432E-8C3C-598ADFCB01B7}" type="parTrans" cxnId="{6BF0C667-49BC-4AE6-BE38-9D3A32527A4E}">
      <dgm:prSet/>
      <dgm:spPr/>
      <dgm:t>
        <a:bodyPr/>
        <a:lstStyle/>
        <a:p>
          <a:endParaRPr lang="en-US"/>
        </a:p>
      </dgm:t>
    </dgm:pt>
    <dgm:pt modelId="{E084BA43-1ECA-4544-93E6-7347C8CC7BAD}" type="sibTrans" cxnId="{6BF0C667-49BC-4AE6-BE38-9D3A32527A4E}">
      <dgm:prSet/>
      <dgm:spPr/>
      <dgm:t>
        <a:bodyPr/>
        <a:lstStyle/>
        <a:p>
          <a:endParaRPr lang="en-US"/>
        </a:p>
      </dgm:t>
    </dgm:pt>
    <dgm:pt modelId="{18A77E46-0874-403C-A422-56543C8D4FAD}">
      <dgm:prSet/>
      <dgm:spPr/>
      <dgm:t>
        <a:bodyPr/>
        <a:lstStyle/>
        <a:p>
          <a:r>
            <a:rPr lang="en-US"/>
            <a:t>The model demonstrates a </a:t>
          </a:r>
          <a:r>
            <a:rPr lang="en-US" b="1"/>
            <a:t>precision of 63%</a:t>
          </a:r>
          <a:r>
            <a:rPr lang="en-US"/>
            <a:t> for predicting </a:t>
          </a:r>
          <a:r>
            <a:rPr lang="en-US" i="1"/>
            <a:t>completed bookings</a:t>
          </a:r>
          <a:r>
            <a:rPr lang="en-US"/>
            <a:t>. This means when the model identifies a customer as likely to book, it is correct 63% of the time, making it a valuable tool for proactively identifying high-intent customers.</a:t>
          </a:r>
        </a:p>
      </dgm:t>
    </dgm:pt>
    <dgm:pt modelId="{CC8D013D-6498-4A6E-991C-B055EB02A7CA}" type="parTrans" cxnId="{C7C8687C-0EF4-4802-AB4D-1C7D14516F08}">
      <dgm:prSet/>
      <dgm:spPr/>
      <dgm:t>
        <a:bodyPr/>
        <a:lstStyle/>
        <a:p>
          <a:endParaRPr lang="en-US"/>
        </a:p>
      </dgm:t>
    </dgm:pt>
    <dgm:pt modelId="{0CE544EF-F32C-4BC4-8967-C99AEF3BDDB1}" type="sibTrans" cxnId="{C7C8687C-0EF4-4802-AB4D-1C7D14516F08}">
      <dgm:prSet/>
      <dgm:spPr/>
      <dgm:t>
        <a:bodyPr/>
        <a:lstStyle/>
        <a:p>
          <a:endParaRPr lang="en-US"/>
        </a:p>
      </dgm:t>
    </dgm:pt>
    <dgm:pt modelId="{7682C408-3C59-4871-BAA4-094AADBCCF6E}" type="pres">
      <dgm:prSet presAssocID="{06794841-7F4C-4369-8A55-3D3AB91F0F7C}" presName="vert0" presStyleCnt="0">
        <dgm:presLayoutVars>
          <dgm:dir/>
          <dgm:animOne val="branch"/>
          <dgm:animLvl val="lvl"/>
        </dgm:presLayoutVars>
      </dgm:prSet>
      <dgm:spPr/>
    </dgm:pt>
    <dgm:pt modelId="{F8610A7C-EF46-40EB-BFFA-69AEB33CF1C4}" type="pres">
      <dgm:prSet presAssocID="{430F4EE1-138D-474B-97AD-7CEE66299C35}" presName="thickLine" presStyleLbl="alignNode1" presStyleIdx="0" presStyleCnt="2"/>
      <dgm:spPr/>
    </dgm:pt>
    <dgm:pt modelId="{6A3DCA35-FA69-4882-80D4-96D0DFDDC63F}" type="pres">
      <dgm:prSet presAssocID="{430F4EE1-138D-474B-97AD-7CEE66299C35}" presName="horz1" presStyleCnt="0"/>
      <dgm:spPr/>
    </dgm:pt>
    <dgm:pt modelId="{658CABA9-9CFB-4135-B56C-6DD57A01A695}" type="pres">
      <dgm:prSet presAssocID="{430F4EE1-138D-474B-97AD-7CEE66299C35}" presName="tx1" presStyleLbl="revTx" presStyleIdx="0" presStyleCnt="2"/>
      <dgm:spPr/>
    </dgm:pt>
    <dgm:pt modelId="{53597785-2ACE-4F87-AE9A-3F41FF693B30}" type="pres">
      <dgm:prSet presAssocID="{430F4EE1-138D-474B-97AD-7CEE66299C35}" presName="vert1" presStyleCnt="0"/>
      <dgm:spPr/>
    </dgm:pt>
    <dgm:pt modelId="{464BE950-3F00-4A68-80F5-F91AD9D91AA0}" type="pres">
      <dgm:prSet presAssocID="{18A77E46-0874-403C-A422-56543C8D4FAD}" presName="thickLine" presStyleLbl="alignNode1" presStyleIdx="1" presStyleCnt="2"/>
      <dgm:spPr/>
    </dgm:pt>
    <dgm:pt modelId="{398A1150-0E58-4C5D-BA7E-40234B426AE0}" type="pres">
      <dgm:prSet presAssocID="{18A77E46-0874-403C-A422-56543C8D4FAD}" presName="horz1" presStyleCnt="0"/>
      <dgm:spPr/>
    </dgm:pt>
    <dgm:pt modelId="{C8E31FC2-4D8A-4DB8-83B4-03711E0E49FA}" type="pres">
      <dgm:prSet presAssocID="{18A77E46-0874-403C-A422-56543C8D4FAD}" presName="tx1" presStyleLbl="revTx" presStyleIdx="1" presStyleCnt="2"/>
      <dgm:spPr/>
    </dgm:pt>
    <dgm:pt modelId="{963A1828-28C3-4540-B605-CE9C23F0E7AE}" type="pres">
      <dgm:prSet presAssocID="{18A77E46-0874-403C-A422-56543C8D4FAD}" presName="vert1" presStyleCnt="0"/>
      <dgm:spPr/>
    </dgm:pt>
  </dgm:ptLst>
  <dgm:cxnLst>
    <dgm:cxn modelId="{05E81863-D85A-4AD2-89AF-B4AB83B83344}" type="presOf" srcId="{430F4EE1-138D-474B-97AD-7CEE66299C35}" destId="{658CABA9-9CFB-4135-B56C-6DD57A01A695}" srcOrd="0" destOrd="0" presId="urn:microsoft.com/office/officeart/2008/layout/LinedList"/>
    <dgm:cxn modelId="{BA968E46-3CE1-4178-A12A-C21652B29C46}" type="presOf" srcId="{18A77E46-0874-403C-A422-56543C8D4FAD}" destId="{C8E31FC2-4D8A-4DB8-83B4-03711E0E49FA}" srcOrd="0" destOrd="0" presId="urn:microsoft.com/office/officeart/2008/layout/LinedList"/>
    <dgm:cxn modelId="{6BF0C667-49BC-4AE6-BE38-9D3A32527A4E}" srcId="{06794841-7F4C-4369-8A55-3D3AB91F0F7C}" destId="{430F4EE1-138D-474B-97AD-7CEE66299C35}" srcOrd="0" destOrd="0" parTransId="{25AB221C-126F-432E-8C3C-598ADFCB01B7}" sibTransId="{E084BA43-1ECA-4544-93E6-7347C8CC7BAD}"/>
    <dgm:cxn modelId="{C7C8687C-0EF4-4802-AB4D-1C7D14516F08}" srcId="{06794841-7F4C-4369-8A55-3D3AB91F0F7C}" destId="{18A77E46-0874-403C-A422-56543C8D4FAD}" srcOrd="1" destOrd="0" parTransId="{CC8D013D-6498-4A6E-991C-B055EB02A7CA}" sibTransId="{0CE544EF-F32C-4BC4-8967-C99AEF3BDDB1}"/>
    <dgm:cxn modelId="{DD8A6BD7-BAAA-4467-B360-6EE7210E71D2}" type="presOf" srcId="{06794841-7F4C-4369-8A55-3D3AB91F0F7C}" destId="{7682C408-3C59-4871-BAA4-094AADBCCF6E}" srcOrd="0" destOrd="0" presId="urn:microsoft.com/office/officeart/2008/layout/LinedList"/>
    <dgm:cxn modelId="{68396F9D-C509-483E-A93E-9E95380EBA20}" type="presParOf" srcId="{7682C408-3C59-4871-BAA4-094AADBCCF6E}" destId="{F8610A7C-EF46-40EB-BFFA-69AEB33CF1C4}" srcOrd="0" destOrd="0" presId="urn:microsoft.com/office/officeart/2008/layout/LinedList"/>
    <dgm:cxn modelId="{BB94290B-5D48-4A38-A619-AEB8AF2B9328}" type="presParOf" srcId="{7682C408-3C59-4871-BAA4-094AADBCCF6E}" destId="{6A3DCA35-FA69-4882-80D4-96D0DFDDC63F}" srcOrd="1" destOrd="0" presId="urn:microsoft.com/office/officeart/2008/layout/LinedList"/>
    <dgm:cxn modelId="{54947B36-FD2A-4CDB-8DC9-412862FA153A}" type="presParOf" srcId="{6A3DCA35-FA69-4882-80D4-96D0DFDDC63F}" destId="{658CABA9-9CFB-4135-B56C-6DD57A01A695}" srcOrd="0" destOrd="0" presId="urn:microsoft.com/office/officeart/2008/layout/LinedList"/>
    <dgm:cxn modelId="{A8490286-32B7-4645-A703-5C01558D96B3}" type="presParOf" srcId="{6A3DCA35-FA69-4882-80D4-96D0DFDDC63F}" destId="{53597785-2ACE-4F87-AE9A-3F41FF693B30}" srcOrd="1" destOrd="0" presId="urn:microsoft.com/office/officeart/2008/layout/LinedList"/>
    <dgm:cxn modelId="{A2F92D61-2CB9-40CD-8005-42E7A0AD99E3}" type="presParOf" srcId="{7682C408-3C59-4871-BAA4-094AADBCCF6E}" destId="{464BE950-3F00-4A68-80F5-F91AD9D91AA0}" srcOrd="2" destOrd="0" presId="urn:microsoft.com/office/officeart/2008/layout/LinedList"/>
    <dgm:cxn modelId="{5D963EBA-0742-4213-95CD-FE888A4D4187}" type="presParOf" srcId="{7682C408-3C59-4871-BAA4-094AADBCCF6E}" destId="{398A1150-0E58-4C5D-BA7E-40234B426AE0}" srcOrd="3" destOrd="0" presId="urn:microsoft.com/office/officeart/2008/layout/LinedList"/>
    <dgm:cxn modelId="{11E5F400-2F0A-4D3A-9267-C2DBE0476CA5}" type="presParOf" srcId="{398A1150-0E58-4C5D-BA7E-40234B426AE0}" destId="{C8E31FC2-4D8A-4DB8-83B4-03711E0E49FA}" srcOrd="0" destOrd="0" presId="urn:microsoft.com/office/officeart/2008/layout/LinedList"/>
    <dgm:cxn modelId="{50BB74DB-D341-445C-AD14-4E0741A5AA60}" type="presParOf" srcId="{398A1150-0E58-4C5D-BA7E-40234B426AE0}" destId="{963A1828-28C3-4540-B605-CE9C23F0E7A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11F826-EB00-49A8-9348-E7B79E2BBCB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C968E12-2765-43F6-AF06-E5DE812555EB}">
      <dgm:prSet custT="1"/>
      <dgm:spPr/>
      <dgm:t>
        <a:bodyPr/>
        <a:lstStyle/>
        <a:p>
          <a:r>
            <a:rPr lang="en-US" sz="1800" b="1" dirty="0"/>
            <a:t>Route is the #1 Predictor:</a:t>
          </a:r>
          <a:r>
            <a:rPr lang="en-US" sz="1800" dirty="0"/>
            <a:t> A specific route, </a:t>
          </a:r>
          <a:r>
            <a:rPr lang="en-US" sz="1800" dirty="0" err="1"/>
            <a:t>route_TGGTR</a:t>
          </a:r>
          <a:r>
            <a:rPr lang="en-US" sz="1800" dirty="0"/>
            <a:t>, is by far the single most important factor in predicting a booking.</a:t>
          </a:r>
        </a:p>
      </dgm:t>
    </dgm:pt>
    <dgm:pt modelId="{ABF50694-9664-43BF-848A-5AB91726F89D}" type="parTrans" cxnId="{9D2A65CE-4DAB-4D87-95C8-B7184FC9F461}">
      <dgm:prSet/>
      <dgm:spPr/>
      <dgm:t>
        <a:bodyPr/>
        <a:lstStyle/>
        <a:p>
          <a:endParaRPr lang="en-US"/>
        </a:p>
      </dgm:t>
    </dgm:pt>
    <dgm:pt modelId="{7A272F04-0673-4814-A99F-B30CD6CCD32D}" type="sibTrans" cxnId="{9D2A65CE-4DAB-4D87-95C8-B7184FC9F461}">
      <dgm:prSet/>
      <dgm:spPr/>
      <dgm:t>
        <a:bodyPr/>
        <a:lstStyle/>
        <a:p>
          <a:endParaRPr lang="en-US"/>
        </a:p>
      </dgm:t>
    </dgm:pt>
    <dgm:pt modelId="{16378F7B-5E97-4000-ACFE-51AF44B1ABF2}">
      <dgm:prSet/>
      <dgm:spPr/>
      <dgm:t>
        <a:bodyPr/>
        <a:lstStyle/>
        <a:p>
          <a:r>
            <a:rPr lang="en-US" sz="1800" b="1" dirty="0"/>
            <a:t>Booking Behavior is Key:</a:t>
          </a:r>
          <a:r>
            <a:rPr lang="en-US" sz="1800" dirty="0"/>
            <a:t> </a:t>
          </a:r>
          <a:r>
            <a:rPr lang="en-US" sz="1800" dirty="0" err="1"/>
            <a:t>purchase_lead</a:t>
          </a:r>
          <a:r>
            <a:rPr lang="en-US" sz="1800" dirty="0"/>
            <a:t> (the time between searching and flying) and </a:t>
          </a:r>
          <a:r>
            <a:rPr lang="en-US" sz="1800" b="1" dirty="0" err="1"/>
            <a:t>flight_hour</a:t>
          </a:r>
          <a:r>
            <a:rPr lang="en-US" sz="1800" dirty="0"/>
            <a:t> are the next two most significant drivers.</a:t>
          </a:r>
        </a:p>
      </dgm:t>
    </dgm:pt>
    <dgm:pt modelId="{14E7FD51-71BA-4023-9011-FA6975D679DD}" type="parTrans" cxnId="{F666774E-EA0A-45AD-91A5-5269716375F8}">
      <dgm:prSet/>
      <dgm:spPr/>
      <dgm:t>
        <a:bodyPr/>
        <a:lstStyle/>
        <a:p>
          <a:endParaRPr lang="en-US"/>
        </a:p>
      </dgm:t>
    </dgm:pt>
    <dgm:pt modelId="{3F85D9D8-E380-46AE-AA5C-9826C5029C02}" type="sibTrans" cxnId="{F666774E-EA0A-45AD-91A5-5269716375F8}">
      <dgm:prSet/>
      <dgm:spPr/>
      <dgm:t>
        <a:bodyPr/>
        <a:lstStyle/>
        <a:p>
          <a:endParaRPr lang="en-US"/>
        </a:p>
      </dgm:t>
    </dgm:pt>
    <dgm:pt modelId="{38FA1A05-0844-42ED-B5D3-DB477017F53E}">
      <dgm:prSet/>
      <dgm:spPr/>
      <dgm:t>
        <a:bodyPr/>
        <a:lstStyle/>
        <a:p>
          <a:r>
            <a:rPr lang="en-US" sz="1800" b="1" dirty="0"/>
            <a:t>Weekend Travel is Different:</a:t>
          </a:r>
          <a:r>
            <a:rPr lang="en-US" sz="1800" dirty="0"/>
            <a:t> The flight day, specifically Saturday (</a:t>
          </a:r>
          <a:r>
            <a:rPr lang="en-US" sz="1800" dirty="0" err="1"/>
            <a:t>flight_day_Sat</a:t>
          </a:r>
          <a:r>
            <a:rPr lang="en-US" sz="1800" dirty="0"/>
            <a:t>), strongly influences the outcome, suggesting different patterns for weekend vs. weekday travel.</a:t>
          </a:r>
        </a:p>
      </dgm:t>
    </dgm:pt>
    <dgm:pt modelId="{7610F5FB-7AB6-4512-9071-95055E8E89D4}" type="parTrans" cxnId="{DD29FC58-9A17-4834-B70E-8D3453D2CC19}">
      <dgm:prSet/>
      <dgm:spPr/>
      <dgm:t>
        <a:bodyPr/>
        <a:lstStyle/>
        <a:p>
          <a:endParaRPr lang="en-US"/>
        </a:p>
      </dgm:t>
    </dgm:pt>
    <dgm:pt modelId="{DCE63623-2CA2-4E73-B07F-007E1728596E}" type="sibTrans" cxnId="{DD29FC58-9A17-4834-B70E-8D3453D2CC19}">
      <dgm:prSet/>
      <dgm:spPr/>
      <dgm:t>
        <a:bodyPr/>
        <a:lstStyle/>
        <a:p>
          <a:endParaRPr lang="en-US"/>
        </a:p>
      </dgm:t>
    </dgm:pt>
    <dgm:pt modelId="{592C8AEF-FC63-4DAB-A868-2BAA5ECE6C88}">
      <dgm:prSet/>
      <dgm:spPr/>
      <dgm:t>
        <a:bodyPr/>
        <a:lstStyle/>
        <a:p>
          <a:r>
            <a:rPr lang="en-US" sz="1800" b="1" dirty="0"/>
            <a:t>Geography Matters:</a:t>
          </a:r>
          <a:r>
            <a:rPr lang="en-US" sz="1800" dirty="0"/>
            <a:t> The customer's booking origin, (e.g., </a:t>
          </a:r>
          <a:r>
            <a:rPr lang="en-US" sz="1800" dirty="0" err="1"/>
            <a:t>booking_origin_Malaysia</a:t>
          </a:r>
          <a:r>
            <a:rPr lang="en-US" sz="1800" dirty="0"/>
            <a:t>), is a top-5 predictor of booking completion.</a:t>
          </a:r>
        </a:p>
      </dgm:t>
    </dgm:pt>
    <dgm:pt modelId="{3F3177E5-20A6-4792-8C2F-0E6DA060A1F2}" type="parTrans" cxnId="{1F89EFC4-D154-45EB-A370-ACAD72318D04}">
      <dgm:prSet/>
      <dgm:spPr/>
      <dgm:t>
        <a:bodyPr/>
        <a:lstStyle/>
        <a:p>
          <a:endParaRPr lang="en-US"/>
        </a:p>
      </dgm:t>
    </dgm:pt>
    <dgm:pt modelId="{07790851-A3CA-4F7A-A340-FF3A28049259}" type="sibTrans" cxnId="{1F89EFC4-D154-45EB-A370-ACAD72318D04}">
      <dgm:prSet/>
      <dgm:spPr/>
      <dgm:t>
        <a:bodyPr/>
        <a:lstStyle/>
        <a:p>
          <a:endParaRPr lang="en-US"/>
        </a:p>
      </dgm:t>
    </dgm:pt>
    <dgm:pt modelId="{77B4D8CC-9F73-43AC-911D-1D745CE7A698}">
      <dgm:prSet/>
      <dgm:spPr/>
      <dgm:t>
        <a:bodyPr/>
        <a:lstStyle/>
        <a:p>
          <a:r>
            <a:rPr lang="en-US" sz="1800" b="1" dirty="0"/>
            <a:t>Customer Intent is a Signal:</a:t>
          </a:r>
          <a:r>
            <a:rPr lang="en-US" sz="1800" dirty="0"/>
            <a:t> Service add-ons like </a:t>
          </a:r>
          <a:r>
            <a:rPr lang="en-US" sz="1800" dirty="0" err="1"/>
            <a:t>wants_extra_baggage</a:t>
          </a:r>
          <a:r>
            <a:rPr lang="en-US" sz="1800" dirty="0"/>
            <a:t> and </a:t>
          </a:r>
          <a:r>
            <a:rPr lang="en-US" sz="1800" dirty="0" err="1"/>
            <a:t>wants_in_flight_meals</a:t>
          </a:r>
          <a:r>
            <a:rPr lang="en-US" sz="1800" dirty="0"/>
            <a:t> are both in the top 10, indicating that customers who engage with the booking process are a distinct group.</a:t>
          </a:r>
        </a:p>
      </dgm:t>
    </dgm:pt>
    <dgm:pt modelId="{CFC4CAF9-0573-4AB8-A311-2CA1B926A14C}" type="parTrans" cxnId="{8D0831C3-F7E7-4FC9-A373-AD2DDB179EE3}">
      <dgm:prSet/>
      <dgm:spPr/>
      <dgm:t>
        <a:bodyPr/>
        <a:lstStyle/>
        <a:p>
          <a:endParaRPr lang="en-US"/>
        </a:p>
      </dgm:t>
    </dgm:pt>
    <dgm:pt modelId="{F92C67AB-42B9-450A-8D53-E2462F3A6FFE}" type="sibTrans" cxnId="{8D0831C3-F7E7-4FC9-A373-AD2DDB179EE3}">
      <dgm:prSet/>
      <dgm:spPr/>
      <dgm:t>
        <a:bodyPr/>
        <a:lstStyle/>
        <a:p>
          <a:endParaRPr lang="en-US"/>
        </a:p>
      </dgm:t>
    </dgm:pt>
    <dgm:pt modelId="{1E8937F6-21CC-4987-98A7-344A70FAB07A}" type="pres">
      <dgm:prSet presAssocID="{7F11F826-EB00-49A8-9348-E7B79E2BBCBB}" presName="linear" presStyleCnt="0">
        <dgm:presLayoutVars>
          <dgm:animLvl val="lvl"/>
          <dgm:resizeHandles val="exact"/>
        </dgm:presLayoutVars>
      </dgm:prSet>
      <dgm:spPr/>
    </dgm:pt>
    <dgm:pt modelId="{4E085A6D-EEE0-4189-BFDC-034C98524F0E}" type="pres">
      <dgm:prSet presAssocID="{8C968E12-2765-43F6-AF06-E5DE812555E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ADF99B4-F6F5-481F-B288-BD5BEF40964A}" type="pres">
      <dgm:prSet presAssocID="{7A272F04-0673-4814-A99F-B30CD6CCD32D}" presName="spacer" presStyleCnt="0"/>
      <dgm:spPr/>
    </dgm:pt>
    <dgm:pt modelId="{F644317E-3D13-4FFB-B652-49347D486A5E}" type="pres">
      <dgm:prSet presAssocID="{16378F7B-5E97-4000-ACFE-51AF44B1ABF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0EF1CBB-4E7B-47F1-B8CF-F161669A95B4}" type="pres">
      <dgm:prSet presAssocID="{3F85D9D8-E380-46AE-AA5C-9826C5029C02}" presName="spacer" presStyleCnt="0"/>
      <dgm:spPr/>
    </dgm:pt>
    <dgm:pt modelId="{8E5E74FF-D536-4E57-981D-3D584690453E}" type="pres">
      <dgm:prSet presAssocID="{38FA1A05-0844-42ED-B5D3-DB477017F53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476185D-F859-4D92-B01B-BCC626C445E8}" type="pres">
      <dgm:prSet presAssocID="{DCE63623-2CA2-4E73-B07F-007E1728596E}" presName="spacer" presStyleCnt="0"/>
      <dgm:spPr/>
    </dgm:pt>
    <dgm:pt modelId="{72AF3C2F-CF41-41D3-8353-25A57E1482F3}" type="pres">
      <dgm:prSet presAssocID="{592C8AEF-FC63-4DAB-A868-2BAA5ECE6C8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CD4C59F-FD6A-4217-A184-71A572E07D38}" type="pres">
      <dgm:prSet presAssocID="{07790851-A3CA-4F7A-A340-FF3A28049259}" presName="spacer" presStyleCnt="0"/>
      <dgm:spPr/>
    </dgm:pt>
    <dgm:pt modelId="{E067E917-290E-4E66-B433-AD0E4A501211}" type="pres">
      <dgm:prSet presAssocID="{77B4D8CC-9F73-43AC-911D-1D745CE7A69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DBB570F-EC49-4847-9DEA-04E75A6F1CC2}" type="presOf" srcId="{77B4D8CC-9F73-43AC-911D-1D745CE7A698}" destId="{E067E917-290E-4E66-B433-AD0E4A501211}" srcOrd="0" destOrd="0" presId="urn:microsoft.com/office/officeart/2005/8/layout/vList2"/>
    <dgm:cxn modelId="{C003AC1F-B043-4899-BB1D-DAB1CD076267}" type="presOf" srcId="{16378F7B-5E97-4000-ACFE-51AF44B1ABF2}" destId="{F644317E-3D13-4FFB-B652-49347D486A5E}" srcOrd="0" destOrd="0" presId="urn:microsoft.com/office/officeart/2005/8/layout/vList2"/>
    <dgm:cxn modelId="{AF079B6C-7742-49D1-8C3B-EB5132C6DD21}" type="presOf" srcId="{38FA1A05-0844-42ED-B5D3-DB477017F53E}" destId="{8E5E74FF-D536-4E57-981D-3D584690453E}" srcOrd="0" destOrd="0" presId="urn:microsoft.com/office/officeart/2005/8/layout/vList2"/>
    <dgm:cxn modelId="{F666774E-EA0A-45AD-91A5-5269716375F8}" srcId="{7F11F826-EB00-49A8-9348-E7B79E2BBCBB}" destId="{16378F7B-5E97-4000-ACFE-51AF44B1ABF2}" srcOrd="1" destOrd="0" parTransId="{14E7FD51-71BA-4023-9011-FA6975D679DD}" sibTransId="{3F85D9D8-E380-46AE-AA5C-9826C5029C02}"/>
    <dgm:cxn modelId="{99E28F52-866B-4D76-8174-99C8FB4F11AB}" type="presOf" srcId="{8C968E12-2765-43F6-AF06-E5DE812555EB}" destId="{4E085A6D-EEE0-4189-BFDC-034C98524F0E}" srcOrd="0" destOrd="0" presId="urn:microsoft.com/office/officeart/2005/8/layout/vList2"/>
    <dgm:cxn modelId="{DD29FC58-9A17-4834-B70E-8D3453D2CC19}" srcId="{7F11F826-EB00-49A8-9348-E7B79E2BBCBB}" destId="{38FA1A05-0844-42ED-B5D3-DB477017F53E}" srcOrd="2" destOrd="0" parTransId="{7610F5FB-7AB6-4512-9071-95055E8E89D4}" sibTransId="{DCE63623-2CA2-4E73-B07F-007E1728596E}"/>
    <dgm:cxn modelId="{434F559C-2CB0-487C-9D6C-067DF5687DCA}" type="presOf" srcId="{7F11F826-EB00-49A8-9348-E7B79E2BBCBB}" destId="{1E8937F6-21CC-4987-98A7-344A70FAB07A}" srcOrd="0" destOrd="0" presId="urn:microsoft.com/office/officeart/2005/8/layout/vList2"/>
    <dgm:cxn modelId="{8D0831C3-F7E7-4FC9-A373-AD2DDB179EE3}" srcId="{7F11F826-EB00-49A8-9348-E7B79E2BBCBB}" destId="{77B4D8CC-9F73-43AC-911D-1D745CE7A698}" srcOrd="4" destOrd="0" parTransId="{CFC4CAF9-0573-4AB8-A311-2CA1B926A14C}" sibTransId="{F92C67AB-42B9-450A-8D53-E2462F3A6FFE}"/>
    <dgm:cxn modelId="{1F89EFC4-D154-45EB-A370-ACAD72318D04}" srcId="{7F11F826-EB00-49A8-9348-E7B79E2BBCBB}" destId="{592C8AEF-FC63-4DAB-A868-2BAA5ECE6C88}" srcOrd="3" destOrd="0" parTransId="{3F3177E5-20A6-4792-8C2F-0E6DA060A1F2}" sibTransId="{07790851-A3CA-4F7A-A340-FF3A28049259}"/>
    <dgm:cxn modelId="{9D2A65CE-4DAB-4D87-95C8-B7184FC9F461}" srcId="{7F11F826-EB00-49A8-9348-E7B79E2BBCBB}" destId="{8C968E12-2765-43F6-AF06-E5DE812555EB}" srcOrd="0" destOrd="0" parTransId="{ABF50694-9664-43BF-848A-5AB91726F89D}" sibTransId="{7A272F04-0673-4814-A99F-B30CD6CCD32D}"/>
    <dgm:cxn modelId="{BED054EF-3AEE-4979-89B1-8F09D516D38C}" type="presOf" srcId="{592C8AEF-FC63-4DAB-A868-2BAA5ECE6C88}" destId="{72AF3C2F-CF41-41D3-8353-25A57E1482F3}" srcOrd="0" destOrd="0" presId="urn:microsoft.com/office/officeart/2005/8/layout/vList2"/>
    <dgm:cxn modelId="{62EE0312-03D0-4E2A-AED4-609A69CC380D}" type="presParOf" srcId="{1E8937F6-21CC-4987-98A7-344A70FAB07A}" destId="{4E085A6D-EEE0-4189-BFDC-034C98524F0E}" srcOrd="0" destOrd="0" presId="urn:microsoft.com/office/officeart/2005/8/layout/vList2"/>
    <dgm:cxn modelId="{99264ED0-BB94-4DA7-B97B-8D8C0C6A4A22}" type="presParOf" srcId="{1E8937F6-21CC-4987-98A7-344A70FAB07A}" destId="{3ADF99B4-F6F5-481F-B288-BD5BEF40964A}" srcOrd="1" destOrd="0" presId="urn:microsoft.com/office/officeart/2005/8/layout/vList2"/>
    <dgm:cxn modelId="{4FB8BF3C-69F0-4095-B3E3-8CEBDA74481C}" type="presParOf" srcId="{1E8937F6-21CC-4987-98A7-344A70FAB07A}" destId="{F644317E-3D13-4FFB-B652-49347D486A5E}" srcOrd="2" destOrd="0" presId="urn:microsoft.com/office/officeart/2005/8/layout/vList2"/>
    <dgm:cxn modelId="{D776401C-8DE3-4897-9A6F-97C4A2E97D6F}" type="presParOf" srcId="{1E8937F6-21CC-4987-98A7-344A70FAB07A}" destId="{A0EF1CBB-4E7B-47F1-B8CF-F161669A95B4}" srcOrd="3" destOrd="0" presId="urn:microsoft.com/office/officeart/2005/8/layout/vList2"/>
    <dgm:cxn modelId="{7E956087-6916-4503-87F4-30C642CA4475}" type="presParOf" srcId="{1E8937F6-21CC-4987-98A7-344A70FAB07A}" destId="{8E5E74FF-D536-4E57-981D-3D584690453E}" srcOrd="4" destOrd="0" presId="urn:microsoft.com/office/officeart/2005/8/layout/vList2"/>
    <dgm:cxn modelId="{92D33D99-5CD9-44C6-B335-A33B5B33BD3E}" type="presParOf" srcId="{1E8937F6-21CC-4987-98A7-344A70FAB07A}" destId="{6476185D-F859-4D92-B01B-BCC626C445E8}" srcOrd="5" destOrd="0" presId="urn:microsoft.com/office/officeart/2005/8/layout/vList2"/>
    <dgm:cxn modelId="{D581C111-07E9-404B-9E91-64B6FB093E0C}" type="presParOf" srcId="{1E8937F6-21CC-4987-98A7-344A70FAB07A}" destId="{72AF3C2F-CF41-41D3-8353-25A57E1482F3}" srcOrd="6" destOrd="0" presId="urn:microsoft.com/office/officeart/2005/8/layout/vList2"/>
    <dgm:cxn modelId="{A44E885A-DA55-4BFC-97B6-7FE227196CF1}" type="presParOf" srcId="{1E8937F6-21CC-4987-98A7-344A70FAB07A}" destId="{CCD4C59F-FD6A-4217-A184-71A572E07D38}" srcOrd="7" destOrd="0" presId="urn:microsoft.com/office/officeart/2005/8/layout/vList2"/>
    <dgm:cxn modelId="{675C7536-62DA-4BD3-AECA-B3C99F028483}" type="presParOf" srcId="{1E8937F6-21CC-4987-98A7-344A70FAB07A}" destId="{E067E917-290E-4E66-B433-AD0E4A50121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610A7C-EF46-40EB-BFFA-69AEB33CF1C4}">
      <dsp:nvSpPr>
        <dsp:cNvPr id="0" name=""/>
        <dsp:cNvSpPr/>
      </dsp:nvSpPr>
      <dsp:spPr>
        <a:xfrm>
          <a:off x="0" y="0"/>
          <a:ext cx="638833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CABA9-9CFB-4135-B56C-6DD57A01A695}">
      <dsp:nvSpPr>
        <dsp:cNvPr id="0" name=""/>
        <dsp:cNvSpPr/>
      </dsp:nvSpPr>
      <dsp:spPr>
        <a:xfrm>
          <a:off x="0" y="0"/>
          <a:ext cx="6388331" cy="2595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Random Forest model predicts booking completions with </a:t>
          </a:r>
          <a:r>
            <a:rPr lang="en-US" sz="2400" b="1" kern="1200"/>
            <a:t>85% accuracy</a:t>
          </a:r>
          <a:r>
            <a:rPr lang="en-US" sz="2400" kern="1200"/>
            <a:t> on the test set. This performance is confirmed by a </a:t>
          </a:r>
          <a:r>
            <a:rPr lang="en-US" sz="2400" b="1" kern="1200"/>
            <a:t>stable 85.02% average accuracy</a:t>
          </a:r>
          <a:r>
            <a:rPr lang="en-US" sz="2400" kern="1200"/>
            <a:t> from 5-fold cross-validation, indicating the model is reliable and not overfitted.</a:t>
          </a:r>
        </a:p>
      </dsp:txBody>
      <dsp:txXfrm>
        <a:off x="0" y="0"/>
        <a:ext cx="6388331" cy="2595704"/>
      </dsp:txXfrm>
    </dsp:sp>
    <dsp:sp modelId="{464BE950-3F00-4A68-80F5-F91AD9D91AA0}">
      <dsp:nvSpPr>
        <dsp:cNvPr id="0" name=""/>
        <dsp:cNvSpPr/>
      </dsp:nvSpPr>
      <dsp:spPr>
        <a:xfrm>
          <a:off x="0" y="2595704"/>
          <a:ext cx="6388331" cy="0"/>
        </a:xfrm>
        <a:prstGeom prst="line">
          <a:avLst/>
        </a:prstGeom>
        <a:solidFill>
          <a:schemeClr val="accent2">
            <a:hueOff val="-6029082"/>
            <a:satOff val="13725"/>
            <a:lumOff val="-40981"/>
            <a:alphaOff val="0"/>
          </a:schemeClr>
        </a:solidFill>
        <a:ln w="12700" cap="flat" cmpd="sng" algn="ctr">
          <a:solidFill>
            <a:schemeClr val="accent2">
              <a:hueOff val="-6029082"/>
              <a:satOff val="13725"/>
              <a:lumOff val="-40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31FC2-4D8A-4DB8-83B4-03711E0E49FA}">
      <dsp:nvSpPr>
        <dsp:cNvPr id="0" name=""/>
        <dsp:cNvSpPr/>
      </dsp:nvSpPr>
      <dsp:spPr>
        <a:xfrm>
          <a:off x="0" y="2595704"/>
          <a:ext cx="6388331" cy="2595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model demonstrates a </a:t>
          </a:r>
          <a:r>
            <a:rPr lang="en-US" sz="2400" b="1" kern="1200"/>
            <a:t>precision of 63%</a:t>
          </a:r>
          <a:r>
            <a:rPr lang="en-US" sz="2400" kern="1200"/>
            <a:t> for predicting </a:t>
          </a:r>
          <a:r>
            <a:rPr lang="en-US" sz="2400" i="1" kern="1200"/>
            <a:t>completed bookings</a:t>
          </a:r>
          <a:r>
            <a:rPr lang="en-US" sz="2400" kern="1200"/>
            <a:t>. This means when the model identifies a customer as likely to book, it is correct 63% of the time, making it a valuable tool for proactively identifying high-intent customers.</a:t>
          </a:r>
        </a:p>
      </dsp:txBody>
      <dsp:txXfrm>
        <a:off x="0" y="2595704"/>
        <a:ext cx="6388331" cy="25957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085A6D-EEE0-4189-BFDC-034C98524F0E}">
      <dsp:nvSpPr>
        <dsp:cNvPr id="0" name=""/>
        <dsp:cNvSpPr/>
      </dsp:nvSpPr>
      <dsp:spPr>
        <a:xfrm>
          <a:off x="0" y="58441"/>
          <a:ext cx="6571067" cy="10003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Route is the #1 Predictor:</a:t>
          </a:r>
          <a:r>
            <a:rPr lang="en-US" sz="1800" kern="1200" dirty="0"/>
            <a:t> A specific route, </a:t>
          </a:r>
          <a:r>
            <a:rPr lang="en-US" sz="1800" kern="1200" dirty="0" err="1"/>
            <a:t>route_TGGTR</a:t>
          </a:r>
          <a:r>
            <a:rPr lang="en-US" sz="1800" kern="1200" dirty="0"/>
            <a:t>, is by far the single most important factor in predicting a booking.</a:t>
          </a:r>
        </a:p>
      </dsp:txBody>
      <dsp:txXfrm>
        <a:off x="48833" y="107274"/>
        <a:ext cx="6473401" cy="902684"/>
      </dsp:txXfrm>
    </dsp:sp>
    <dsp:sp modelId="{F644317E-3D13-4FFB-B652-49347D486A5E}">
      <dsp:nvSpPr>
        <dsp:cNvPr id="0" name=""/>
        <dsp:cNvSpPr/>
      </dsp:nvSpPr>
      <dsp:spPr>
        <a:xfrm>
          <a:off x="0" y="1101991"/>
          <a:ext cx="6571067" cy="1000350"/>
        </a:xfrm>
        <a:prstGeom prst="roundRect">
          <a:avLst/>
        </a:prstGeom>
        <a:solidFill>
          <a:schemeClr val="accent2">
            <a:hueOff val="-1507270"/>
            <a:satOff val="3431"/>
            <a:lumOff val="-1024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Booking Behavior is Key:</a:t>
          </a:r>
          <a:r>
            <a:rPr lang="en-US" sz="1500" kern="1200" dirty="0"/>
            <a:t> </a:t>
          </a:r>
          <a:r>
            <a:rPr lang="en-US" sz="1500" kern="1200" dirty="0" err="1"/>
            <a:t>purchase_lead</a:t>
          </a:r>
          <a:r>
            <a:rPr lang="en-US" sz="1500" kern="1200" dirty="0"/>
            <a:t> (the time between searching and flying) and </a:t>
          </a:r>
          <a:r>
            <a:rPr lang="en-US" sz="1500" b="1" kern="1200" dirty="0" err="1"/>
            <a:t>flight_hour</a:t>
          </a:r>
          <a:r>
            <a:rPr lang="en-US" sz="1500" kern="1200" dirty="0"/>
            <a:t> are the next two most significant drivers.</a:t>
          </a:r>
        </a:p>
      </dsp:txBody>
      <dsp:txXfrm>
        <a:off x="48833" y="1150824"/>
        <a:ext cx="6473401" cy="902684"/>
      </dsp:txXfrm>
    </dsp:sp>
    <dsp:sp modelId="{8E5E74FF-D536-4E57-981D-3D584690453E}">
      <dsp:nvSpPr>
        <dsp:cNvPr id="0" name=""/>
        <dsp:cNvSpPr/>
      </dsp:nvSpPr>
      <dsp:spPr>
        <a:xfrm>
          <a:off x="0" y="2145541"/>
          <a:ext cx="6571067" cy="1000350"/>
        </a:xfrm>
        <a:prstGeom prst="roundRect">
          <a:avLst/>
        </a:prstGeom>
        <a:solidFill>
          <a:schemeClr val="accent2">
            <a:hueOff val="-3014541"/>
            <a:satOff val="6863"/>
            <a:lumOff val="-204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Weekend Travel is Different:</a:t>
          </a:r>
          <a:r>
            <a:rPr lang="en-US" sz="1500" kern="1200" dirty="0"/>
            <a:t> The flight day, specifically Saturday (</a:t>
          </a:r>
          <a:r>
            <a:rPr lang="en-US" sz="1500" kern="1200" dirty="0" err="1"/>
            <a:t>flight_day_Sat</a:t>
          </a:r>
          <a:r>
            <a:rPr lang="en-US" sz="1500" kern="1200" dirty="0"/>
            <a:t>), strongly influences the outcome, suggesting different patterns for weekend vs. weekday travel.</a:t>
          </a:r>
        </a:p>
      </dsp:txBody>
      <dsp:txXfrm>
        <a:off x="48833" y="2194374"/>
        <a:ext cx="6473401" cy="902684"/>
      </dsp:txXfrm>
    </dsp:sp>
    <dsp:sp modelId="{72AF3C2F-CF41-41D3-8353-25A57E1482F3}">
      <dsp:nvSpPr>
        <dsp:cNvPr id="0" name=""/>
        <dsp:cNvSpPr/>
      </dsp:nvSpPr>
      <dsp:spPr>
        <a:xfrm>
          <a:off x="0" y="3189091"/>
          <a:ext cx="6571067" cy="1000350"/>
        </a:xfrm>
        <a:prstGeom prst="roundRect">
          <a:avLst/>
        </a:prstGeom>
        <a:solidFill>
          <a:schemeClr val="accent2">
            <a:hueOff val="-4521812"/>
            <a:satOff val="10294"/>
            <a:lumOff val="-307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Geography Matters:</a:t>
          </a:r>
          <a:r>
            <a:rPr lang="en-US" sz="1500" kern="1200" dirty="0"/>
            <a:t> The customer's booking origin, (e.g., </a:t>
          </a:r>
          <a:r>
            <a:rPr lang="en-US" sz="1500" kern="1200" dirty="0" err="1"/>
            <a:t>booking_origin_Malaysia</a:t>
          </a:r>
          <a:r>
            <a:rPr lang="en-US" sz="1500" kern="1200" dirty="0"/>
            <a:t>), is a top-5 predictor of booking completion.</a:t>
          </a:r>
        </a:p>
      </dsp:txBody>
      <dsp:txXfrm>
        <a:off x="48833" y="3237924"/>
        <a:ext cx="6473401" cy="902684"/>
      </dsp:txXfrm>
    </dsp:sp>
    <dsp:sp modelId="{E067E917-290E-4E66-B433-AD0E4A501211}">
      <dsp:nvSpPr>
        <dsp:cNvPr id="0" name=""/>
        <dsp:cNvSpPr/>
      </dsp:nvSpPr>
      <dsp:spPr>
        <a:xfrm>
          <a:off x="0" y="4232641"/>
          <a:ext cx="6571067" cy="1000350"/>
        </a:xfrm>
        <a:prstGeom prst="roundRect">
          <a:avLst/>
        </a:prstGeom>
        <a:solidFill>
          <a:schemeClr val="accent2">
            <a:hueOff val="-6029082"/>
            <a:satOff val="13725"/>
            <a:lumOff val="-40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Customer Intent is a Signal:</a:t>
          </a:r>
          <a:r>
            <a:rPr lang="en-US" sz="1500" kern="1200" dirty="0"/>
            <a:t> Service add-ons like </a:t>
          </a:r>
          <a:r>
            <a:rPr lang="en-US" sz="1500" kern="1200" dirty="0" err="1"/>
            <a:t>wants_extra_baggage</a:t>
          </a:r>
          <a:r>
            <a:rPr lang="en-US" sz="1500" kern="1200" dirty="0"/>
            <a:t> and </a:t>
          </a:r>
          <a:r>
            <a:rPr lang="en-US" sz="1500" kern="1200" dirty="0" err="1"/>
            <a:t>wants_in_flight_meals</a:t>
          </a:r>
          <a:r>
            <a:rPr lang="en-US" sz="1500" kern="1200" dirty="0"/>
            <a:t> are both in the top 10, indicating that customers who engage with the booking process are a distinct group.</a:t>
          </a:r>
        </a:p>
      </dsp:txBody>
      <dsp:txXfrm>
        <a:off x="48833" y="4281474"/>
        <a:ext cx="6473401" cy="9026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6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8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7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10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4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8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90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50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23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6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2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642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43" r:id="rId6"/>
    <p:sldLayoutId id="2147483739" r:id="rId7"/>
    <p:sldLayoutId id="2147483740" r:id="rId8"/>
    <p:sldLayoutId id="2147483741" r:id="rId9"/>
    <p:sldLayoutId id="2147483742" r:id="rId10"/>
    <p:sldLayoutId id="2147483744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F61B21B-C704-8330-6871-65617F45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252" y="752136"/>
            <a:ext cx="3944703" cy="3638795"/>
          </a:xfrm>
        </p:spPr>
        <p:txBody>
          <a:bodyPr anchor="t">
            <a:normAutofit/>
          </a:bodyPr>
          <a:lstStyle/>
          <a:p>
            <a:r>
              <a:rPr lang="en-US" sz="4800" b="0">
                <a:ea typeface="+mj-lt"/>
                <a:cs typeface="+mj-lt"/>
              </a:rPr>
              <a:t>Predictive Booking Model</a:t>
            </a:r>
            <a:endParaRPr lang="en-US" sz="4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2252" y="4676011"/>
            <a:ext cx="3698627" cy="1343789"/>
          </a:xfrm>
        </p:spPr>
        <p:txBody>
          <a:bodyPr anchor="b">
            <a:normAutofit/>
          </a:bodyPr>
          <a:lstStyle/>
          <a:p>
            <a:r>
              <a:rPr lang="en-US">
                <a:ea typeface="+mn-lt"/>
                <a:cs typeface="+mn-lt"/>
              </a:rPr>
              <a:t>Findings &amp; Recommendations</a:t>
            </a:r>
            <a:endParaRPr lang="en-US" dirty="0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70099C5F-171F-D956-6D91-996E0F8745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4" r="25622"/>
          <a:stretch>
            <a:fillRect/>
          </a:stretch>
        </p:blipFill>
        <p:spPr>
          <a:xfrm>
            <a:off x="5096608" y="72874"/>
            <a:ext cx="7018782" cy="6711603"/>
          </a:xfrm>
          <a:custGeom>
            <a:avLst/>
            <a:gdLst/>
            <a:ahLst/>
            <a:cxnLst/>
            <a:rect l="l" t="t" r="r" b="b"/>
            <a:pathLst>
              <a:path w="7018782" h="6732093">
                <a:moveTo>
                  <a:pt x="697647" y="0"/>
                </a:moveTo>
                <a:lnTo>
                  <a:pt x="6321135" y="0"/>
                </a:lnTo>
                <a:cubicBezTo>
                  <a:pt x="6706435" y="0"/>
                  <a:pt x="7018782" y="312347"/>
                  <a:pt x="7018782" y="697647"/>
                </a:cubicBezTo>
                <a:lnTo>
                  <a:pt x="7018782" y="6034446"/>
                </a:lnTo>
                <a:cubicBezTo>
                  <a:pt x="7018782" y="6419746"/>
                  <a:pt x="6706435" y="6732093"/>
                  <a:pt x="6321135" y="6732093"/>
                </a:cubicBezTo>
                <a:lnTo>
                  <a:pt x="697647" y="6732093"/>
                </a:lnTo>
                <a:cubicBezTo>
                  <a:pt x="312347" y="6732093"/>
                  <a:pt x="0" y="6419746"/>
                  <a:pt x="0" y="6034446"/>
                </a:cubicBezTo>
                <a:lnTo>
                  <a:pt x="0" y="697647"/>
                </a:lnTo>
                <a:cubicBezTo>
                  <a:pt x="0" y="312347"/>
                  <a:pt x="312347" y="0"/>
                  <a:pt x="69764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F904DB4-22D2-4F22-B1B8-ADDDBB7FF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0C5463-4C1F-6EA2-5253-B3A2FE16A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4076698" cy="6858000"/>
          </a:xfrm>
          <a:custGeom>
            <a:avLst/>
            <a:gdLst>
              <a:gd name="connsiteX0" fmla="*/ 4076698 w 4076698"/>
              <a:gd name="connsiteY0" fmla="*/ 6858000 h 6858000"/>
              <a:gd name="connsiteX1" fmla="*/ 677913 w 4076698"/>
              <a:gd name="connsiteY1" fmla="*/ 6858000 h 6858000"/>
              <a:gd name="connsiteX2" fmla="*/ 0 w 4076698"/>
              <a:gd name="connsiteY2" fmla="*/ 6180087 h 6858000"/>
              <a:gd name="connsiteX3" fmla="*/ 0 w 4076698"/>
              <a:gd name="connsiteY3" fmla="*/ 677913 h 6858000"/>
              <a:gd name="connsiteX4" fmla="*/ 677913 w 4076698"/>
              <a:gd name="connsiteY4" fmla="*/ 0 h 6858000"/>
              <a:gd name="connsiteX5" fmla="*/ 4076698 w 407669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76698" h="6858000">
                <a:moveTo>
                  <a:pt x="4076698" y="6858000"/>
                </a:move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lnTo>
                  <a:pt x="407669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02E43-51E6-7E7F-6527-4715CD121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57" y="753762"/>
            <a:ext cx="3229942" cy="5436609"/>
          </a:xfrm>
        </p:spPr>
        <p:txBody>
          <a:bodyPr anchor="t">
            <a:normAutofit/>
          </a:bodyPr>
          <a:lstStyle/>
          <a:p>
            <a:r>
              <a:rPr lang="en-US" sz="3700" b="0">
                <a:solidFill>
                  <a:schemeClr val="bg1"/>
                </a:solidFill>
                <a:ea typeface="+mj-lt"/>
                <a:cs typeface="+mj-lt"/>
              </a:rPr>
              <a:t>Model Performance</a:t>
            </a:r>
            <a:endParaRPr lang="en-US" sz="370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423B6-F4E2-3666-28FF-8ABEE48DBD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11/16/2025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9EF8F-9C11-B35E-39D9-DA338813C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2100000">
            <a:off x="7344016" y="6424761"/>
            <a:ext cx="4059936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76964-709B-33B7-E511-085B6AFF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37785DC-0266-2171-2788-F282CCD55C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4262061"/>
              </p:ext>
            </p:extLst>
          </p:nvPr>
        </p:nvGraphicFramePr>
        <p:xfrm>
          <a:off x="5015619" y="838201"/>
          <a:ext cx="6388331" cy="5191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393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9921ADB-B43D-32C5-18EE-18AF3C436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775BA-DDB0-63EE-9C29-49B118B69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57" y="826840"/>
            <a:ext cx="3229942" cy="5363531"/>
          </a:xfrm>
        </p:spPr>
        <p:txBody>
          <a:bodyPr anchor="b">
            <a:normAutofit/>
          </a:bodyPr>
          <a:lstStyle/>
          <a:p>
            <a:r>
              <a:rPr lang="en-US" sz="4000" b="0">
                <a:solidFill>
                  <a:schemeClr val="bg1"/>
                </a:solidFill>
                <a:ea typeface="+mj-lt"/>
                <a:cs typeface="+mj-lt"/>
              </a:rPr>
              <a:t>Top 5 Key Findings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86F1-A192-5875-8783-B7E99E1803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11/16/2025</a:t>
            </a:fld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E56D5D3-3105-1C66-5BAB-FA7B033D5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6699" y="0"/>
            <a:ext cx="8115301" cy="6858000"/>
          </a:xfrm>
          <a:custGeom>
            <a:avLst/>
            <a:gdLst>
              <a:gd name="connsiteX0" fmla="*/ 677913 w 8115301"/>
              <a:gd name="connsiteY0" fmla="*/ 0 h 6858000"/>
              <a:gd name="connsiteX1" fmla="*/ 8115301 w 8115301"/>
              <a:gd name="connsiteY1" fmla="*/ 0 h 6858000"/>
              <a:gd name="connsiteX2" fmla="*/ 8115301 w 8115301"/>
              <a:gd name="connsiteY2" fmla="*/ 6858000 h 6858000"/>
              <a:gd name="connsiteX3" fmla="*/ 677913 w 8115301"/>
              <a:gd name="connsiteY3" fmla="*/ 6858000 h 6858000"/>
              <a:gd name="connsiteX4" fmla="*/ 0 w 8115301"/>
              <a:gd name="connsiteY4" fmla="*/ 6180087 h 6858000"/>
              <a:gd name="connsiteX5" fmla="*/ 0 w 8115301"/>
              <a:gd name="connsiteY5" fmla="*/ 677913 h 6858000"/>
              <a:gd name="connsiteX6" fmla="*/ 677913 w 811530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15301" h="6858000">
                <a:moveTo>
                  <a:pt x="677913" y="0"/>
                </a:moveTo>
                <a:lnTo>
                  <a:pt x="8115301" y="0"/>
                </a:lnTo>
                <a:lnTo>
                  <a:pt x="8115301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26C5D-C073-0DAE-976C-4D7467BD4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2520000"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B117E-CF78-06CA-4C34-922F371E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3F3CD61E-B55C-3CA4-7F3F-D86311648A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9941554"/>
              </p:ext>
            </p:extLst>
          </p:nvPr>
        </p:nvGraphicFramePr>
        <p:xfrm>
          <a:off x="4931453" y="838200"/>
          <a:ext cx="6571067" cy="52914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624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8CA9E9D-6A76-A56D-C4DE-0910EA87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FB7E5ED-F72A-DBA0-549D-BABA6DAC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40660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0 h 6858000"/>
              <a:gd name="connsiteX0" fmla="*/ 0 w 12192000"/>
              <a:gd name="connsiteY0" fmla="*/ 0 h 2406604"/>
              <a:gd name="connsiteX1" fmla="*/ 12192000 w 12192000"/>
              <a:gd name="connsiteY1" fmla="*/ 0 h 2406604"/>
              <a:gd name="connsiteX2" fmla="*/ 12192000 w 12192000"/>
              <a:gd name="connsiteY2" fmla="*/ 2406593 h 2406604"/>
              <a:gd name="connsiteX3" fmla="*/ 12178573 w 12192000"/>
              <a:gd name="connsiteY3" fmla="*/ 2273403 h 2406604"/>
              <a:gd name="connsiteX4" fmla="*/ 11531070 w 12192000"/>
              <a:gd name="connsiteY4" fmla="*/ 1745673 h 2406604"/>
              <a:gd name="connsiteX5" fmla="*/ 660932 w 12192000"/>
              <a:gd name="connsiteY5" fmla="*/ 1745673 h 2406604"/>
              <a:gd name="connsiteX6" fmla="*/ 1 w 12192000"/>
              <a:gd name="connsiteY6" fmla="*/ 2406604 h 2406604"/>
              <a:gd name="connsiteX7" fmla="*/ 0 w 12192000"/>
              <a:gd name="connsiteY7" fmla="*/ 0 h 240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406604">
                <a:moveTo>
                  <a:pt x="0" y="0"/>
                </a:moveTo>
                <a:lnTo>
                  <a:pt x="12192000" y="0"/>
                </a:lnTo>
                <a:lnTo>
                  <a:pt x="12192000" y="2406593"/>
                </a:lnTo>
                <a:lnTo>
                  <a:pt x="12178573" y="2273403"/>
                </a:lnTo>
                <a:cubicBezTo>
                  <a:pt x="12116944" y="1972228"/>
                  <a:pt x="11850464" y="1745673"/>
                  <a:pt x="11531070" y="1745673"/>
                </a:cubicBezTo>
                <a:lnTo>
                  <a:pt x="660932" y="1745673"/>
                </a:lnTo>
                <a:cubicBezTo>
                  <a:pt x="295910" y="1745673"/>
                  <a:pt x="1" y="2041582"/>
                  <a:pt x="1" y="2406604"/>
                </a:cubicBezTo>
                <a:cubicBezTo>
                  <a:pt x="1" y="1604403"/>
                  <a:pt x="0" y="802201"/>
                  <a:pt x="0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8022F2-E98B-BAA7-B286-6A6CF0596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8" y="264120"/>
            <a:ext cx="9095508" cy="1343007"/>
          </a:xfrm>
        </p:spPr>
        <p:txBody>
          <a:bodyPr anchor="ctr">
            <a:normAutofit/>
          </a:bodyPr>
          <a:lstStyle/>
          <a:p>
            <a:r>
              <a:rPr lang="en-US" b="0">
                <a:solidFill>
                  <a:schemeClr val="bg1"/>
                </a:solidFill>
                <a:ea typeface="+mj-lt"/>
                <a:cs typeface="+mj-lt"/>
              </a:rPr>
              <a:t>Business Recommendations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3A655-264B-963C-87DC-B556CC8CC6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11/16/2025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BDE4E0E-4DC1-4670-43E7-390A502BB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18" y="1429894"/>
            <a:ext cx="8001131" cy="47492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1400" b="1" dirty="0">
                <a:ea typeface="+mn-lt"/>
                <a:cs typeface="+mn-lt"/>
              </a:rPr>
              <a:t>Analyze Key Routes:</a:t>
            </a:r>
            <a:r>
              <a:rPr lang="en-US" sz="1400" dirty="0">
                <a:ea typeface="+mn-lt"/>
                <a:cs typeface="+mn-lt"/>
              </a:rPr>
              <a:t> Immediately deep-dive into the </a:t>
            </a:r>
            <a:r>
              <a:rPr lang="en-US" sz="1400" dirty="0" err="1">
                <a:latin typeface="Consolas"/>
              </a:rPr>
              <a:t>route_TGGTR</a:t>
            </a:r>
            <a:r>
              <a:rPr lang="en-US" sz="1400" dirty="0">
                <a:ea typeface="+mn-lt"/>
                <a:cs typeface="+mn-lt"/>
              </a:rPr>
              <a:t> segment. We must understand why it's so predictive—is it a high-completion route to replicate, or a high-failure route that needs intervention?</a:t>
            </a:r>
            <a:endParaRPr lang="en-US" sz="1400" dirty="0"/>
          </a:p>
          <a:p>
            <a:pPr algn="just">
              <a:lnSpc>
                <a:spcPct val="110000"/>
              </a:lnSpc>
            </a:pPr>
            <a:r>
              <a:rPr lang="en-US" sz="1400" b="1" dirty="0">
                <a:ea typeface="+mn-lt"/>
                <a:cs typeface="+mn-lt"/>
              </a:rPr>
              <a:t>Create Targeted Campaigns:</a:t>
            </a:r>
            <a:r>
              <a:rPr lang="en-US" sz="1400" dirty="0">
                <a:ea typeface="+mn-lt"/>
                <a:cs typeface="+mn-lt"/>
              </a:rPr>
              <a:t> Develop region-specific marketing, especially for high-impact origins like Malaysia and Australia, which your model identified as key predictors.</a:t>
            </a:r>
            <a:endParaRPr lang="en-US" sz="1400" dirty="0"/>
          </a:p>
          <a:p>
            <a:pPr algn="just">
              <a:lnSpc>
                <a:spcPct val="110000"/>
              </a:lnSpc>
            </a:pPr>
            <a:r>
              <a:rPr lang="en-US" sz="1400" b="1" dirty="0">
                <a:ea typeface="+mn-lt"/>
                <a:cs typeface="+mn-lt"/>
              </a:rPr>
              <a:t>Use Timing as a Trigger:</a:t>
            </a:r>
            <a:r>
              <a:rPr lang="en-US" sz="1400" dirty="0">
                <a:ea typeface="+mn-lt"/>
                <a:cs typeface="+mn-lt"/>
              </a:rPr>
              <a:t> Send proactive reminders or "24-hour hold" offers to customers based on their </a:t>
            </a:r>
            <a:r>
              <a:rPr lang="en-US" sz="1400" dirty="0" err="1">
                <a:latin typeface="Consolas"/>
              </a:rPr>
              <a:t>purchase_lead</a:t>
            </a:r>
            <a:r>
              <a:rPr lang="en-US" sz="1400" dirty="0">
                <a:ea typeface="+mn-lt"/>
                <a:cs typeface="+mn-lt"/>
              </a:rPr>
              <a:t> time, as this is the second-strongest predictor of their behavior.</a:t>
            </a:r>
            <a:endParaRPr lang="en-US" sz="1400" dirty="0"/>
          </a:p>
          <a:p>
            <a:pPr algn="just">
              <a:lnSpc>
                <a:spcPct val="110000"/>
              </a:lnSpc>
            </a:pPr>
            <a:r>
              <a:rPr lang="en-US" sz="1400" b="1" dirty="0">
                <a:ea typeface="+mn-lt"/>
                <a:cs typeface="+mn-lt"/>
              </a:rPr>
              <a:t>Promote Add-Ons to "Lock-In" Customers:</a:t>
            </a:r>
            <a:r>
              <a:rPr lang="en-US" sz="1400" dirty="0">
                <a:ea typeface="+mn-lt"/>
                <a:cs typeface="+mn-lt"/>
              </a:rPr>
              <a:t> Since </a:t>
            </a:r>
            <a:r>
              <a:rPr lang="en-US" sz="1400" dirty="0" err="1">
                <a:latin typeface="Consolas"/>
              </a:rPr>
              <a:t>wants_extra_baggage</a:t>
            </a:r>
            <a:r>
              <a:rPr lang="en-US" sz="1400" dirty="0">
                <a:ea typeface="+mn-lt"/>
                <a:cs typeface="+mn-lt"/>
              </a:rPr>
              <a:t> is a strong signal, feature these add-ons more prominently. Customers who select them are signaling high intent, and we can use this to secure the booking.</a:t>
            </a:r>
            <a:endParaRPr lang="en-US" sz="1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B3585-F86A-1384-9305-C027A149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2340000"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Sample Fo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82FDD-6BFC-D417-4801-7AAF4C2D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77686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DylanVTI</vt:lpstr>
      <vt:lpstr>Predictive Booking Model</vt:lpstr>
      <vt:lpstr>Model Performance</vt:lpstr>
      <vt:lpstr>Top 5 Key Findings</vt:lpstr>
      <vt:lpstr>Business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57</cp:revision>
  <dcterms:created xsi:type="dcterms:W3CDTF">2025-11-16T04:04:16Z</dcterms:created>
  <dcterms:modified xsi:type="dcterms:W3CDTF">2025-11-16T11:40:57Z</dcterms:modified>
</cp:coreProperties>
</file>